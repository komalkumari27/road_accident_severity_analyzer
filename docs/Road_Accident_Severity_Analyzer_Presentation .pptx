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389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51389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9344" y="51389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14016" y="51389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18688" y="51389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23360" y="51389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28032" y="51389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32704" y="51389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37376" y="51389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42048" y="51389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51389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51389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56064" y="51389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60736" y="51389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265408" y="51389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70080" y="5138928"/>
            <a:ext cx="121615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Segoe UI Semibold"/>
              </a:rPr>
              <a:t>IIT MANDI  ·  HIMSHIKHAR PROJECT PROGRAM  ·  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16002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egoe UI Semibold"/>
              </a:rPr>
              <a:t>Road Accident Severity &amp;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egoe UI Semibold"/>
              </a:rPr>
              <a:t>Safety Hotspot Analyzer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52044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C9D4E4"/>
                </a:solidFill>
                <a:latin typeface="Segoe UI"/>
              </a:rPr>
              <a:t>Predicting accident severity with machine learning, uncovering high-risk patterns, and turning 12,316 real accident records into actionable road-safety recommendations.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370832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162C4C"/>
          </a:solidFill>
          <a:ln w="9525">
            <a:solidFill>
              <a:srgbClr val="2A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1655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5A623"/>
                </a:solidFill>
                <a:latin typeface="Segoe UI Semibold"/>
              </a:rPr>
              <a:t>12,316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681728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AAAC2"/>
                </a:solidFill>
                <a:latin typeface="Segoe UI"/>
              </a:rPr>
              <a:t>RECORDS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4370832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162C4C"/>
          </a:solidFill>
          <a:ln w="9525">
            <a:solidFill>
              <a:srgbClr val="2A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441655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5A623"/>
                </a:solidFill>
                <a:latin typeface="Segoe UI Semibold"/>
              </a:rPr>
              <a:t>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681728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AAAC2"/>
                </a:solidFill>
                <a:latin typeface="Segoe UI"/>
              </a:rPr>
              <a:t>FEATURES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4370832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162C4C"/>
          </a:solidFill>
          <a:ln w="9525">
            <a:solidFill>
              <a:srgbClr val="2A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60" y="441655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5A623"/>
                </a:solidFill>
                <a:latin typeface="Segoe UI Semibold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681728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AAAC2"/>
                </a:solidFill>
                <a:latin typeface="Segoe UI"/>
              </a:rPr>
              <a:t>ML MODELS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4370832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162C4C"/>
          </a:solidFill>
          <a:ln w="9525">
            <a:solidFill>
              <a:srgbClr val="2A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441655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5A623"/>
                </a:solidFill>
                <a:latin typeface="Segoe UI Semibold"/>
              </a:rPr>
              <a:t>84.58%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681728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AAAC2"/>
                </a:solidFill>
                <a:latin typeface="Segoe UI"/>
              </a:rPr>
              <a:t>BEST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715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AAAC2"/>
                </a:solidFill>
                <a:latin typeface="Segoe UI"/>
              </a:rPr>
              <a:t>Team  </a:t>
            </a:r>
            <a:r>
              <a:rPr sz="1300" b="1">
                <a:solidFill>
                  <a:srgbClr val="FFFFFF"/>
                </a:solidFill>
                <a:latin typeface="Segoe UI Semibold"/>
              </a:rPr>
              <a:t>Komal Kumari  ·  Pallavi  ·  Shruti Saini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9AAAC2"/>
                </a:solidFill>
                <a:latin typeface="Segoe UI"/>
              </a:rPr>
              <a:t>Dataset: Kaggle — Road Accidents Severity (RTA)   |   github.com/KomalKumari27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/>
            </a:r>
            <a:r>
              <a:rPr sz="900" b="1">
                <a:solidFill>
                  <a:srgbClr val="F5A623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Segoe UI"/>
              </a:rPr>
              <a:t>How this presentation is structured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Overview   |   </a:t>
            </a:r>
            <a:r>
              <a:rPr sz="900" b="1">
                <a:solidFill>
                  <a:srgbClr val="F5A623"/>
                </a:solidFill>
                <a:latin typeface="Segoe U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8308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911095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A623"/>
                </a:solidFill>
                <a:latin typeface="Segoe UI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90195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0E1F38"/>
                </a:solidFill>
                <a:latin typeface="Segoe UI Semibold"/>
              </a:rPr>
              <a:t>Problem &amp;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2585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B82"/>
                </a:solidFill>
                <a:latin typeface="Segoe UI"/>
              </a:rPr>
              <a:t>Why accident severity prediction matters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911095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A623"/>
                </a:solidFill>
                <a:latin typeface="Segoe UI Semi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90195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0E1F38"/>
                </a:solidFill>
                <a:latin typeface="Segoe UI Semibold"/>
              </a:rPr>
              <a:t>Dataset at a Glance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2585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B82"/>
                </a:solidFill>
                <a:latin typeface="Segoe UI"/>
              </a:rPr>
              <a:t>12,316 records · 32 features · 3 severity classes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898648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026664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A623"/>
                </a:solidFill>
                <a:latin typeface="Segoe UI Semibol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0175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0E1F38"/>
                </a:solidFill>
                <a:latin typeface="Segoe UI Semibold"/>
              </a:rPr>
              <a:t>Tech Stack &amp;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37413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B82"/>
                </a:solidFill>
                <a:latin typeface="Segoe UI"/>
              </a:rPr>
              <a:t>Tools, project structure and the 8-step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898648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026664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A623"/>
                </a:solidFill>
                <a:latin typeface="Segoe UI Semibol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0175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0E1F38"/>
                </a:solidFill>
                <a:latin typeface="Segoe UI Semibold"/>
              </a:rPr>
              <a:t>Exploratory Data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37413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B82"/>
                </a:solidFill>
                <a:latin typeface="Segoe UI"/>
              </a:rPr>
              <a:t>When, who, where and why accidents happen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014215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4142231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A623"/>
                </a:solidFill>
                <a:latin typeface="Segoe UI Semibold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133087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0E1F38"/>
                </a:solidFill>
                <a:latin typeface="Segoe UI Semibold"/>
              </a:rPr>
              <a:t>Model Training &amp;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48970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B82"/>
                </a:solidFill>
                <a:latin typeface="Segoe UI"/>
              </a:rPr>
              <a:t>Logistic Regression vs Decision Tree vs Random Forest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14215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4142231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A623"/>
                </a:solidFill>
                <a:latin typeface="Segoe UI Semibold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133087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0E1F38"/>
                </a:solidFill>
                <a:latin typeface="Segoe UI Semibold"/>
              </a:rPr>
              <a:t>Feature Importance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48970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B82"/>
                </a:solidFill>
                <a:latin typeface="Segoe UI"/>
              </a:rPr>
              <a:t>What actually drives severity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129784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5257800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A623"/>
                </a:solidFill>
                <a:latin typeface="Segoe UI Semibold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248656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0E1F38"/>
                </a:solidFill>
                <a:latin typeface="Segoe UI Semibold"/>
              </a:rPr>
              <a:t>Hotspots &amp; Recommendations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60527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B82"/>
                </a:solidFill>
                <a:latin typeface="Segoe UI"/>
              </a:rPr>
              <a:t>High-risk patterns → concrete safety actions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5129784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5257800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A623"/>
                </a:solidFill>
                <a:latin typeface="Segoe UI Semibold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5248656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0E1F38"/>
                </a:solidFill>
                <a:latin typeface="Segoe UI Semibold"/>
              </a:rPr>
              <a:t>Insights, Limitations &amp; Future Scope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560527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B82"/>
                </a:solidFill>
                <a:latin typeface="Segoe UI"/>
              </a:rPr>
              <a:t>What we learned and where this goes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Overview   |   </a:t>
            </a:r>
            <a:r>
              <a:rPr sz="900" b="1">
                <a:solidFill>
                  <a:srgbClr val="F5A623"/>
                </a:solidFill>
                <a:latin typeface="Segoe U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5212080" cy="4526280"/>
          </a:xfrm>
          <a:prstGeom prst="roundRect">
            <a:avLst>
              <a:gd name="adj" fmla="val 5000"/>
            </a:avLst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Segoe UI Semibold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4617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E8EEF7"/>
                </a:solidFill>
                <a:latin typeface="Segoe UI"/>
              </a:rPr>
              <a:t>Road accidents are among the leading causes of injuries and fatalities worldwide. Authorities react after crashes happen — they lack tools to anticipate which conditions turn an ordinary trip into a severe accident.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617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B9C6D9"/>
                </a:solidFill>
                <a:latin typeface="Segoe UI"/>
              </a:rPr>
              <a:t>Understanding the factors behind accident severity lets governments and transport authorities act preventively — before lives are lost.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897880"/>
            <a:ext cx="36576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99616" y="5897880"/>
            <a:ext cx="36576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84832" y="5897880"/>
            <a:ext cx="36576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70048" y="5897880"/>
            <a:ext cx="36576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55264" y="5897880"/>
            <a:ext cx="36576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0" y="5897880"/>
            <a:ext cx="36576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25696" y="5897880"/>
            <a:ext cx="36576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10912" y="5897880"/>
            <a:ext cx="36576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1691640"/>
            <a:ext cx="548640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691640"/>
            <a:ext cx="73152" cy="10241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81051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1B2A41"/>
                </a:solidFill>
                <a:latin typeface="Segoe UI"/>
              </a:rP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180136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E1F38"/>
                </a:solidFill>
                <a:latin typeface="Segoe UI Semibold"/>
              </a:rPr>
              <a:t>Predict severity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148840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B6B82"/>
                </a:solidFill>
                <a:latin typeface="Segoe UI"/>
              </a:rPr>
              <a:t>Classify each accident as Slight, Serious or Fatal from conditions known at the scene.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862072"/>
            <a:ext cx="548640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2862072"/>
            <a:ext cx="73152" cy="10241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9809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1B2A41"/>
                </a:solidFill>
                <a:latin typeface="Segoe UI"/>
              </a:rPr>
              <a:t>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9718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E1F38"/>
                </a:solidFill>
                <a:latin typeface="Segoe UI Semibold"/>
              </a:rPr>
              <a:t>Identify high-risk patterns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319272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B6B82"/>
                </a:solidFill>
                <a:latin typeface="Segoe UI"/>
              </a:rPr>
              <a:t>Mine the data for combinations of weather, light, road and driver factors that raise severity.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032504"/>
            <a:ext cx="548640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032504"/>
            <a:ext cx="73152" cy="10241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15137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1B2A41"/>
                </a:solidFill>
                <a:latin typeface="Segoe UI"/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14223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E1F38"/>
                </a:solidFill>
                <a:latin typeface="Segoe UI Semibold"/>
              </a:rPr>
              <a:t>Explain the drivers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489704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B6B82"/>
                </a:solidFill>
                <a:latin typeface="Segoe UI"/>
              </a:rPr>
              <a:t>Rank the most influential accident factors using model feature importance.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5202936"/>
            <a:ext cx="5486400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5202936"/>
            <a:ext cx="73152" cy="10241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5321807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1B2A41"/>
                </a:solidFill>
                <a:latin typeface="Segoe UI"/>
              </a:rPr>
              <a:t>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312664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E1F38"/>
                </a:solidFill>
                <a:latin typeface="Segoe UI Semibold"/>
              </a:rPr>
              <a:t>Recommend 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5660136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5B6B82"/>
                </a:solidFill>
                <a:latin typeface="Segoe UI"/>
              </a:rPr>
              <a:t>Translate findings into concrete safety recommendations for decision-makers.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Real-World Impact &amp; 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Segoe UI"/>
              </a:rPr>
              <a:t>Data-driven road-safety planning for the people who need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Overview   |   </a:t>
            </a:r>
            <a:r>
              <a:rPr sz="900" b="1">
                <a:solidFill>
                  <a:srgbClr val="F5A623"/>
                </a:solidFill>
                <a:latin typeface="Segoe UI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20240"/>
            <a:ext cx="2084831" cy="3063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920240"/>
            <a:ext cx="2084831" cy="822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40280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0">
                <a:solidFill>
                  <a:srgbClr val="1B2A41"/>
                </a:solidFill>
                <a:latin typeface="Segoe UI"/>
              </a:rPr>
              <a:t>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18105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E1F38"/>
                </a:solidFill>
                <a:latin typeface="Segoe UI Semibold"/>
              </a:rPr>
              <a:t>Traffic Police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657600"/>
            <a:ext cx="175564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Prioritise patrols and enforcement where severe accidents are most likely.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62072" y="1920240"/>
            <a:ext cx="2084831" cy="3063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62072" y="1920240"/>
            <a:ext cx="2084831" cy="8229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2072" y="2240280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0">
                <a:solidFill>
                  <a:srgbClr val="1B2A41"/>
                </a:solidFill>
                <a:latin typeface="Segoe UI"/>
              </a:rPr>
              <a:t>🛣️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2971800"/>
            <a:ext cx="18105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E1F38"/>
                </a:solidFill>
                <a:latin typeface="Segoe UI Semibold"/>
              </a:rPr>
              <a:t>Road Safety Authorities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6664" y="3657600"/>
            <a:ext cx="175564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Target lighting, signage and surface maintenance to high-risk segments.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9784" y="1920240"/>
            <a:ext cx="2084831" cy="3063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9784" y="1920240"/>
            <a:ext cx="2084831" cy="822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9784" y="2240280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0">
                <a:solidFill>
                  <a:srgbClr val="1B2A41"/>
                </a:solidFill>
                <a:latin typeface="Segoe UI"/>
              </a:rPr>
              <a:t>🏛️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2971800"/>
            <a:ext cx="18105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E1F38"/>
                </a:solidFill>
                <a:latin typeface="Segoe UI Semibold"/>
              </a:rPr>
              <a:t>Government Agencies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4376" y="3657600"/>
            <a:ext cx="175564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Ground policy and budget decisions in evidence, not anecdotes.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97496" y="1920240"/>
            <a:ext cx="2084831" cy="3063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97496" y="1920240"/>
            <a:ext cx="2084831" cy="8229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97496" y="2240280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0">
                <a:solidFill>
                  <a:srgbClr val="1B2A41"/>
                </a:solidFill>
                <a:latin typeface="Segoe UI"/>
              </a:rPr>
              <a:t>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34656" y="2971800"/>
            <a:ext cx="18105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E1F38"/>
                </a:solidFill>
                <a:latin typeface="Segoe UI Semibold"/>
              </a:rPr>
              <a:t>Emergency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2088" y="3657600"/>
            <a:ext cx="175564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Anticipate severe-accident conditions to position responders faster.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65208" y="1920240"/>
            <a:ext cx="2084831" cy="3063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65208" y="1920240"/>
            <a:ext cx="2084831" cy="822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65208" y="2240280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0">
                <a:solidFill>
                  <a:srgbClr val="1B2A41"/>
                </a:solidFill>
                <a:latin typeface="Segoe UI"/>
              </a:rPr>
              <a:t>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8" y="2971800"/>
            <a:ext cx="18105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E1F38"/>
                </a:solidFill>
                <a:latin typeface="Segoe UI Semibold"/>
              </a:rPr>
              <a:t>Transport Departments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657600"/>
            <a:ext cx="175564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Design awareness campaigns for the riskiest driver groups and behaviours.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349240"/>
            <a:ext cx="11018520" cy="777240"/>
          </a:xfrm>
          <a:prstGeom prst="roundRect">
            <a:avLst>
              <a:gd name="adj" fmla="val 12000"/>
            </a:avLst>
          </a:prstGeom>
          <a:solidFill>
            <a:srgbClr val="FDF3DF"/>
          </a:solidFill>
          <a:ln w="9525">
            <a:solidFill>
              <a:srgbClr val="EFD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468112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8810A"/>
                </a:solidFill>
                <a:latin typeface="Segoe UI Semibold"/>
              </a:rPr>
              <a:t>The goal:  </a:t>
            </a:r>
            <a:r>
              <a:rPr sz="1300" b="0">
                <a:solidFill>
                  <a:srgbClr val="1B2A41"/>
                </a:solidFill>
                <a:latin typeface="Segoe UI"/>
              </a:rPr>
              <a:t>shift road safety from reactive investigation to proactive prevention using patterns hidden in historical accident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Dataset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Segoe UI"/>
              </a:rPr>
              <a:t>Road Traffic Accident (RTA) dataset — Kaggle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Data   |   </a:t>
            </a:r>
            <a:r>
              <a:rPr sz="900" b="1">
                <a:solidFill>
                  <a:srgbClr val="F5A623"/>
                </a:solidFill>
                <a:latin typeface="Segoe U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83080"/>
            <a:ext cx="32004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783080"/>
            <a:ext cx="82296" cy="9875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929384"/>
            <a:ext cx="2788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12,316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51460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5B6B82"/>
                </a:solidFill>
                <a:latin typeface="Segoe UI Semibold"/>
              </a:rPr>
              <a:t>ACCIDENT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898648"/>
            <a:ext cx="32004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898648"/>
            <a:ext cx="82296" cy="9875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044952"/>
            <a:ext cx="2788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630168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5B6B82"/>
                </a:solidFill>
                <a:latin typeface="Segoe UI Semibold"/>
              </a:rPr>
              <a:t>RAW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014215"/>
            <a:ext cx="32004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4014215"/>
            <a:ext cx="82296" cy="98755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160520"/>
            <a:ext cx="2788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745736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5B6B82"/>
                </a:solidFill>
                <a:latin typeface="Segoe UI Semibold"/>
              </a:rPr>
              <a:t>SEVERITY CLASSES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129784"/>
            <a:ext cx="32004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5129784"/>
            <a:ext cx="82296" cy="987552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276088"/>
            <a:ext cx="2788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80 / 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5861304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5B6B82"/>
                </a:solidFill>
                <a:latin typeface="Segoe UI Semibold"/>
              </a:rPr>
              <a:t>SPLIT — TRAIN 9,852 · TEST 2,464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1783080"/>
            <a:ext cx="4892040" cy="39776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2035346"/>
            <a:ext cx="4672583" cy="318049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224528" y="5394959"/>
            <a:ext cx="467258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Target variable — Distribution of Accident Severity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1783080"/>
            <a:ext cx="2423160" cy="3977639"/>
          </a:xfrm>
          <a:prstGeom prst="roundRect">
            <a:avLst>
              <a:gd name="adj" fmla="val 6000"/>
            </a:avLst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196596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Segoe UI Semibold"/>
              </a:rPr>
              <a:t>CLASS BALANCE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2468880"/>
            <a:ext cx="128016" cy="12801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23957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Slight Injury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2651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B9C6D9"/>
                </a:solidFill>
                <a:latin typeface="Segoe UI"/>
              </a:rPr>
              <a:t>≈ 84.5%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3182112"/>
            <a:ext cx="128016" cy="12801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20" y="3108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Serious Injury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336499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B9C6D9"/>
                </a:solidFill>
                <a:latin typeface="Segoe UI"/>
              </a:rPr>
              <a:t>≈ 14.1%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0" y="3895344"/>
            <a:ext cx="128016" cy="12801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3822191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Fatal Injury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4078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B9C6D9"/>
                </a:solidFill>
                <a:latin typeface="Segoe UI"/>
              </a:rPr>
              <a:t>≈ 1.3%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461772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C9D4E4"/>
                </a:solidFill>
                <a:latin typeface="Segoe UI"/>
              </a:rPr>
              <a:t>Heavily imbalanced — a key challenge for modelling and evaluation.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B82"/>
                </a:solidFill>
                <a:latin typeface="Segoe UI"/>
              </a:rPr>
              <a:t>Features cover driver (age band, experience), vehicle, environment (weather, light, road surface) and crash context (cause, vehicles involved, time, day).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Tech Stack &amp; Project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Data   |   </a:t>
            </a:r>
            <a:r>
              <a:rPr sz="900" b="1">
                <a:solidFill>
                  <a:srgbClr val="F5A623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8810A"/>
                </a:solidFill>
                <a:latin typeface="Segoe UI Semibold"/>
              </a:rPr>
              <a:t>TECHNOLOGIES 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148840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8686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E1F38"/>
                </a:solidFill>
                <a:latin typeface="Segoe UI Semibold"/>
              </a:rPr>
              <a:t>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64207" y="2148840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148840"/>
            <a:ext cx="8686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E1F38"/>
                </a:solidFill>
                <a:latin typeface="Segoe UI Semibold"/>
              </a:rPr>
              <a:t>Pandas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4056" y="2148840"/>
            <a:ext cx="772668" cy="438912"/>
          </a:xfrm>
          <a:prstGeom prst="roundRect">
            <a:avLst>
              <a:gd name="adj" fmla="val 5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4056" y="2148840"/>
            <a:ext cx="77266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E1F38"/>
                </a:solidFill>
                <a:latin typeface="Segoe UI Semibold"/>
              </a:rPr>
              <a:t>NumPy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7891" y="2148840"/>
            <a:ext cx="1444752" cy="438912"/>
          </a:xfrm>
          <a:prstGeom prst="roundRect">
            <a:avLst>
              <a:gd name="adj" fmla="val 5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7891" y="2148840"/>
            <a:ext cx="14447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E1F38"/>
                </a:solidFill>
                <a:latin typeface="Segoe UI Semibold"/>
              </a:rPr>
              <a:t>Scikit-learn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715768"/>
            <a:ext cx="1252728" cy="438912"/>
          </a:xfrm>
          <a:prstGeom prst="roundRect">
            <a:avLst>
              <a:gd name="adj" fmla="val 5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715768"/>
            <a:ext cx="12527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E1F38"/>
                </a:solidFill>
                <a:latin typeface="Segoe UI Semibold"/>
              </a:rPr>
              <a:t>Matplotlib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48256" y="2715768"/>
            <a:ext cx="964692" cy="438912"/>
          </a:xfrm>
          <a:prstGeom prst="roundRect">
            <a:avLst>
              <a:gd name="adj" fmla="val 5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48256" y="2715768"/>
            <a:ext cx="9646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E1F38"/>
                </a:solidFill>
                <a:latin typeface="Segoe UI Semibold"/>
              </a:rPr>
              <a:t>Seaborn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14116" y="2715768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14116" y="2715768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E1F38"/>
                </a:solidFill>
                <a:latin typeface="Segoe UI Semibold"/>
              </a:rPr>
              <a:t>Jupyter Notebook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282696"/>
            <a:ext cx="1444752" cy="438912"/>
          </a:xfrm>
          <a:prstGeom prst="roundRect">
            <a:avLst>
              <a:gd name="adj" fmla="val 5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282696"/>
            <a:ext cx="14447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E1F38"/>
                </a:solidFill>
                <a:latin typeface="Segoe UI Semibold"/>
              </a:rPr>
              <a:t>Git &amp; GitHub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65760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8810A"/>
                </a:solidFill>
                <a:latin typeface="Segoe UI Semibold"/>
              </a:rPr>
              <a:t>WHAT EACH TOOL DOES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977639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E1F38"/>
                </a:solidFill>
                <a:latin typeface="Segoe UI Semibold"/>
              </a:rPr>
              <a:t>• Pandas / NumPy — </a:t>
            </a:r>
            <a:r>
              <a:rPr sz="1200" b="0">
                <a:solidFill>
                  <a:srgbClr val="5B6B82"/>
                </a:solidFill>
                <a:latin typeface="Segoe UI"/>
              </a:rPr>
              <a:t>cleaning, encoding, feature engineering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453127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E1F38"/>
                </a:solidFill>
                <a:latin typeface="Segoe UI Semibold"/>
              </a:rPr>
              <a:t>• Seaborn / Matplotlib — </a:t>
            </a:r>
            <a:r>
              <a:rPr sz="1200" b="0">
                <a:solidFill>
                  <a:srgbClr val="5B6B82"/>
                </a:solidFill>
                <a:latin typeface="Segoe UI"/>
              </a:rPr>
              <a:t>9+ EDA visualisations &amp; severity cross-tabs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928615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E1F38"/>
                </a:solidFill>
                <a:latin typeface="Segoe UI Semibold"/>
              </a:rPr>
              <a:t>• Scikit-learn — </a:t>
            </a:r>
            <a:r>
              <a:rPr sz="1200" b="0">
                <a:solidFill>
                  <a:srgbClr val="5B6B82"/>
                </a:solidFill>
                <a:latin typeface="Segoe UI"/>
              </a:rPr>
              <a:t>model training, metrics, feature importance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404103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E1F38"/>
                </a:solidFill>
                <a:latin typeface="Segoe UI Semibold"/>
              </a:rPr>
              <a:t>• Jupyter — </a:t>
            </a:r>
            <a:r>
              <a:rPr sz="1200" b="0">
                <a:solidFill>
                  <a:srgbClr val="5B6B82"/>
                </a:solidFill>
                <a:latin typeface="Segoe UI"/>
              </a:rPr>
              <a:t>3 staged notebooks: EDA → Training → Hotspots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1737360"/>
            <a:ext cx="5303520" cy="4526280"/>
          </a:xfrm>
          <a:prstGeom prst="roundRect">
            <a:avLst>
              <a:gd name="adj" fmla="val 5000"/>
            </a:avLst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19202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Segoe UI Semibold"/>
              </a:rPr>
              <a:t>REPOSITORY LAYOUT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331720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5A623"/>
                </a:solidFill>
                <a:latin typeface="Consolas"/>
              </a:rPr>
              <a:t>road_accident_severity_analyzer/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647187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D5DEEB"/>
                </a:solidFill>
                <a:latin typeface="Consolas"/>
              </a:rPr>
              <a:t>├─ data/            RTA Dataset.csv · X_train · X_test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962655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D5DEEB"/>
                </a:solidFill>
                <a:latin typeface="Consolas"/>
              </a:rPr>
              <a:t>├─ notebook/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278123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D5DEEB"/>
                </a:solidFill>
                <a:latin typeface="Consolas"/>
              </a:rPr>
              <a:t>│   ├─ 01_eda.ipynb                  exploratory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593591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D5DEEB"/>
                </a:solidFill>
                <a:latin typeface="Consolas"/>
              </a:rPr>
              <a:t>│   ├─ 02_Model_Training.ipynb       3 classifiers + metrics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909059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D5DEEB"/>
                </a:solidFill>
                <a:latin typeface="Consolas"/>
              </a:rPr>
              <a:t>│   └─ 03_Hotspot_Analysis.ipynb     patterns &amp; actions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224527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D5DEEB"/>
                </a:solidFill>
                <a:latin typeface="Consolas"/>
              </a:rPr>
              <a:t>├─ output/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539995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D5DEEB"/>
                </a:solidFill>
                <a:latin typeface="Consolas"/>
              </a:rPr>
              <a:t>│   ├─ safety_recommendations.csv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855463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D5DEEB"/>
                </a:solidFill>
                <a:latin typeface="Consolas"/>
              </a:rPr>
              <a:t>│   └─ screenshots/                  13 result charts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170931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D5DEEB"/>
                </a:solidFill>
                <a:latin typeface="Consolas"/>
              </a:rPr>
              <a:t>├─ docs/             project report (PDF)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486399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D5DEEB"/>
                </a:solidFill>
                <a:latin typeface="Consolas"/>
              </a:rPr>
              <a:t>├─ requirements.txt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801867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D5DEEB"/>
                </a:solidFill>
                <a:latin typeface="Consolas"/>
              </a:rPr>
              <a:t>└─ README.md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End-to-End Project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Segoe UI"/>
              </a:rPr>
              <a:t>Eight stages from raw CSV to safety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Method   |   </a:t>
            </a:r>
            <a:r>
              <a:rPr sz="900" b="1">
                <a:solidFill>
                  <a:srgbClr val="F5A623"/>
                </a:solidFill>
                <a:latin typeface="Segoe UI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659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965960"/>
            <a:ext cx="2606040" cy="566928"/>
          </a:xfrm>
          <a:prstGeom prst="roundRect">
            <a:avLst>
              <a:gd name="adj" fmla="val 8000"/>
            </a:avLst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49424"/>
            <a:ext cx="2606040" cy="283464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03911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5A623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011679"/>
            <a:ext cx="18745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Understand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65176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Frame severity prediction as multi-class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9544" y="2624328"/>
            <a:ext cx="320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5A623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02152" y="19659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02152" y="1965960"/>
            <a:ext cx="2606040" cy="566928"/>
          </a:xfrm>
          <a:prstGeom prst="roundRect">
            <a:avLst>
              <a:gd name="adj" fmla="val 8000"/>
            </a:avLst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02152" y="2249424"/>
            <a:ext cx="2606040" cy="283464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66744" y="203911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5A623"/>
                </a:solidFill>
                <a:latin typeface="Segoe UI Semibold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2232" y="2011679"/>
            <a:ext cx="18745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Acquire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6744" y="265176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Kaggle RTA dataset — 12,316 × 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7336" y="2624328"/>
            <a:ext cx="320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5A623"/>
                </a:solidFill>
                <a:latin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9944" y="19659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9944" y="1965960"/>
            <a:ext cx="2606040" cy="566928"/>
          </a:xfrm>
          <a:prstGeom prst="roundRect">
            <a:avLst>
              <a:gd name="adj" fmla="val 8000"/>
            </a:avLst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9944" y="2249424"/>
            <a:ext cx="2606040" cy="283464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203911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5A623"/>
                </a:solidFill>
                <a:latin typeface="Segoe UI Semibol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0024" y="2011679"/>
            <a:ext cx="18745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Clean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265176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Handle missing values &amp; inconsistent labels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5128" y="2624328"/>
            <a:ext cx="320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5A623"/>
                </a:solidFill>
                <a:latin typeface="Segoe U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17736" y="19659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17736" y="1965960"/>
            <a:ext cx="2606040" cy="566928"/>
          </a:xfrm>
          <a:prstGeom prst="roundRect">
            <a:avLst>
              <a:gd name="adj" fmla="val 8000"/>
            </a:avLst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17736" y="2249424"/>
            <a:ext cx="2606040" cy="283464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82328" y="203911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5A623"/>
                </a:solidFill>
                <a:latin typeface="Segoe UI Semibold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57816" y="2011679"/>
            <a:ext cx="18745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Explore (EDA)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2328" y="265176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9 analyses across driver, environment &amp; 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11480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94360" y="4114800"/>
            <a:ext cx="2606040" cy="566928"/>
          </a:xfrm>
          <a:prstGeom prst="roundRect">
            <a:avLst>
              <a:gd name="adj" fmla="val 8000"/>
            </a:avLst>
          </a:prstGeom>
          <a:solidFill>
            <a:srgbClr val="16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" y="4398264"/>
            <a:ext cx="2606040" cy="283464"/>
          </a:xfrm>
          <a:prstGeom prst="rect">
            <a:avLst/>
          </a:prstGeom>
          <a:solidFill>
            <a:srgbClr val="16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418795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5A623"/>
                </a:solidFill>
                <a:latin typeface="Segoe UI Semibold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4160520"/>
            <a:ext cx="18745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Engineer Features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" y="480060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Encode categoricals → 30 model features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9544" y="4773168"/>
            <a:ext cx="320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5A623"/>
                </a:solidFill>
                <a:latin typeface="Segoe UI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02152" y="411480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502152" y="4114800"/>
            <a:ext cx="2606040" cy="566928"/>
          </a:xfrm>
          <a:prstGeom prst="roundRect">
            <a:avLst>
              <a:gd name="adj" fmla="val 8000"/>
            </a:avLst>
          </a:prstGeom>
          <a:solidFill>
            <a:srgbClr val="16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502152" y="4398264"/>
            <a:ext cx="2606040" cy="283464"/>
          </a:xfrm>
          <a:prstGeom prst="rect">
            <a:avLst/>
          </a:prstGeom>
          <a:solidFill>
            <a:srgbClr val="16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66744" y="418795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5A623"/>
                </a:solidFill>
                <a:latin typeface="Segoe UI Semibold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42232" y="4160520"/>
            <a:ext cx="18745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Train Models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66744" y="480060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Logistic Regression · Decision Tree · Random Forest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17336" y="4773168"/>
            <a:ext cx="320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5A623"/>
                </a:solidFill>
                <a:latin typeface="Segoe UI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9944" y="411480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09944" y="4114800"/>
            <a:ext cx="2606040" cy="566928"/>
          </a:xfrm>
          <a:prstGeom prst="roundRect">
            <a:avLst>
              <a:gd name="adj" fmla="val 8000"/>
            </a:avLst>
          </a:prstGeom>
          <a:solidFill>
            <a:srgbClr val="16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9944" y="4398264"/>
            <a:ext cx="2606040" cy="283464"/>
          </a:xfrm>
          <a:prstGeom prst="rect">
            <a:avLst/>
          </a:prstGeom>
          <a:solidFill>
            <a:srgbClr val="16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74536" y="418795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5A623"/>
                </a:solidFill>
                <a:latin typeface="Segoe UI Semibold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50024" y="4160520"/>
            <a:ext cx="18745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Evaluate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74536" y="480060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Accuracy, precision, recall, F1, confusion matrix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5128" y="4773168"/>
            <a:ext cx="320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5A623"/>
                </a:solidFill>
                <a:latin typeface="Segoe UI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17736" y="411480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317736" y="4114800"/>
            <a:ext cx="2606040" cy="566928"/>
          </a:xfrm>
          <a:prstGeom prst="roundRect">
            <a:avLst>
              <a:gd name="adj" fmla="val 8000"/>
            </a:avLst>
          </a:prstGeom>
          <a:solidFill>
            <a:srgbClr val="16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17736" y="4398264"/>
            <a:ext cx="2606040" cy="283464"/>
          </a:xfrm>
          <a:prstGeom prst="rect">
            <a:avLst/>
          </a:prstGeom>
          <a:solidFill>
            <a:srgbClr val="16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82328" y="418795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5A623"/>
                </a:solidFill>
                <a:latin typeface="Segoe UI Semibold"/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57816" y="4160520"/>
            <a:ext cx="18745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Recommend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82328" y="480060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Hotspot analysis → safety actions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Segoe UI"/>
              </a:rPr>
              <a:t>Each stage lives in its own notebook, so the analysis is reproducible step by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09344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14016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18688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60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28032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32704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37376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42048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51392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56064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460736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265408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70080" y="5394960"/>
            <a:ext cx="121615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150876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>
                <a:solidFill>
                  <a:srgbClr val="243C63"/>
                </a:solidFill>
                <a:latin typeface="Segoe UI Semibold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0632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Exploratory Data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8862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F5A623"/>
                </a:solidFill>
                <a:latin typeface="Segoe UI"/>
              </a:rPr>
              <a:t>What 12,316 accidents reveal about when, who and why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64592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— </a:t>
            </a:r>
            <a:r>
              <a:rPr sz="1300" b="0">
                <a:solidFill>
                  <a:srgbClr val="C9D4E4"/>
                </a:solidFill>
                <a:latin typeface="Segoe UI"/>
              </a:rPr>
              <a:t>Severity &amp; time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10312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— </a:t>
            </a:r>
            <a:r>
              <a:rPr sz="1300" b="0">
                <a:solidFill>
                  <a:srgbClr val="C9D4E4"/>
                </a:solidFill>
                <a:latin typeface="Segoe UI"/>
              </a:rPr>
              <a:t>Driver age &amp;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56032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— </a:t>
            </a:r>
            <a:r>
              <a:rPr sz="1300" b="0">
                <a:solidFill>
                  <a:srgbClr val="C9D4E4"/>
                </a:solidFill>
                <a:latin typeface="Segoe UI"/>
              </a:rPr>
              <a:t>Weather, light &amp; road surface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01752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— </a:t>
            </a:r>
            <a:r>
              <a:rPr sz="1300" b="0">
                <a:solidFill>
                  <a:srgbClr val="C9D4E4"/>
                </a:solidFill>
                <a:latin typeface="Segoe UI"/>
              </a:rPr>
              <a:t>Top causes of accidents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/>
            </a:r>
            <a:r>
              <a:rPr sz="900" b="1">
                <a:solidFill>
                  <a:srgbClr val="F5A623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EDA · TIME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When Do Accidents Happen?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EDA   |   </a:t>
            </a:r>
            <a:r>
              <a:rPr sz="900" b="1">
                <a:solidFill>
                  <a:srgbClr val="F5A623"/>
                </a:solidFill>
                <a:latin typeface="Segoe U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5577840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i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24" y="1892807"/>
            <a:ext cx="4721311" cy="2871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088" y="4800600"/>
            <a:ext cx="535838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Accidents by day of week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783080"/>
            <a:ext cx="3063240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i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320" y="1892807"/>
            <a:ext cx="2762760" cy="2871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64808" y="4800600"/>
            <a:ext cx="28437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Day vs night share of accidents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783080"/>
            <a:ext cx="2011680" cy="3383280"/>
          </a:xfrm>
          <a:prstGeom prst="roundRect">
            <a:avLst>
              <a:gd name="adj" fmla="val 6000"/>
            </a:avLst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02368" y="19659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5A623"/>
                </a:solidFill>
                <a:latin typeface="Segoe UI Semibold"/>
              </a:rPr>
              <a:t>STANDOUTS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02368" y="237744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Friday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268833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B9C6D9"/>
                </a:solidFill>
                <a:latin typeface="Segoe UI"/>
              </a:rPr>
              <a:t>peak day (~2,040)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8" y="329184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Sunday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8" y="360273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B9C6D9"/>
                </a:solidFill>
                <a:latin typeface="Segoe UI"/>
              </a:rPr>
              <a:t>quietest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8" y="420624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71.4%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451713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B9C6D9"/>
                </a:solidFill>
                <a:latin typeface="Segoe UI"/>
              </a:rPr>
              <a:t>occur in daylight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4406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▪  </a:t>
            </a:r>
            <a:r>
              <a:rPr sz="1200" b="1">
                <a:solidFill>
                  <a:srgbClr val="1B2A41"/>
                </a:solidFill>
                <a:latin typeface="Segoe UI Semibold"/>
              </a:rPr>
              <a:t>Friday leads: </a:t>
            </a:r>
            <a:r>
              <a:rPr sz="1200" b="0">
                <a:solidFill>
                  <a:srgbClr val="1B2A41"/>
                </a:solidFill>
                <a:latin typeface="Segoe UI"/>
              </a:rPr>
              <a:t>end-of-week commuting and higher traffic volume drive the weekly peak; weekdays consistently beat weekends.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▪  </a:t>
            </a:r>
            <a:r>
              <a:rPr sz="1200" b="1">
                <a:solidFill>
                  <a:srgbClr val="1B2A41"/>
                </a:solidFill>
                <a:latin typeface="Segoe UI Semibold"/>
              </a:rPr>
              <a:t>Daylight dominates counts, </a:t>
            </a:r>
            <a:r>
              <a:rPr sz="1200" b="0">
                <a:solidFill>
                  <a:srgbClr val="1B2A41"/>
                </a:solidFill>
                <a:latin typeface="Segoe UI"/>
              </a:rPr>
              <a:t>but night driving carries higher severity risk per trip — reduced visibility and fatigue — which motivates the lighting analysis later.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EDA · DRIVER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Who Is Involved?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EDA   |   </a:t>
            </a:r>
            <a:r>
              <a:rPr sz="900" b="1">
                <a:solidFill>
                  <a:srgbClr val="F5A623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5486400" cy="3520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i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779" y="1892807"/>
            <a:ext cx="4319562" cy="3008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088" y="4937759"/>
            <a:ext cx="52669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Driver age group distribution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486400" cy="3520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i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414" y="1892807"/>
            <a:ext cx="4946851" cy="3008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73368" y="4937759"/>
            <a:ext cx="52669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Driving experience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48640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▪  </a:t>
            </a:r>
            <a:r>
              <a:rPr sz="1200" b="1">
                <a:solidFill>
                  <a:srgbClr val="1B2A41"/>
                </a:solidFill>
                <a:latin typeface="Segoe UI Semibold"/>
              </a:rPr>
              <a:t>Ages 18–50 dominate </a:t>
            </a:r>
            <a:r>
              <a:rPr sz="1200" b="0">
                <a:solidFill>
                  <a:srgbClr val="1B2A41"/>
                </a:solidFill>
                <a:latin typeface="Segoe UI"/>
              </a:rPr>
              <a:t>(two largest bands ~4,200 each) — the most active driving population is also the most exposed.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▪  </a:t>
            </a:r>
            <a:r>
              <a:rPr sz="1200" b="1">
                <a:solidFill>
                  <a:srgbClr val="1B2A41"/>
                </a:solidFill>
                <a:latin typeface="Segoe UI Semibold"/>
              </a:rPr>
              <a:t>Experience doesn't immunise: </a:t>
            </a:r>
            <a:r>
              <a:rPr sz="1200" b="0">
                <a:solidFill>
                  <a:srgbClr val="1B2A41"/>
                </a:solidFill>
                <a:latin typeface="Segoe UI"/>
              </a:rPr>
              <a:t>drivers with 5–10 years of experience top the chart (~3,350), showing over-confidence matters as much as inexperience.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EDA ·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Road, Weather &amp; Light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EDA   |   </a:t>
            </a:r>
            <a:r>
              <a:rPr sz="900" b="1">
                <a:solidFill>
                  <a:srgbClr val="F5A623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3977639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i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178151"/>
            <a:ext cx="3758182" cy="2117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088" y="4617720"/>
            <a:ext cx="375818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Accidents by weather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783080"/>
            <a:ext cx="3977639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i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982791"/>
            <a:ext cx="3758183" cy="2508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18888" y="4617720"/>
            <a:ext cx="375818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Accidents by light condition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783080"/>
            <a:ext cx="278892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i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688" y="2379491"/>
            <a:ext cx="2569463" cy="17149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33688" y="4617720"/>
            <a:ext cx="256946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Road surface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21208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▪  </a:t>
            </a:r>
            <a:r>
              <a:rPr sz="1200" b="1">
                <a:solidFill>
                  <a:srgbClr val="1B2A41"/>
                </a:solidFill>
                <a:latin typeface="Segoe UI Semibold"/>
              </a:rPr>
              <a:t>Most accidents happen in 'normal' conditions </a:t>
            </a:r>
            <a:r>
              <a:rPr sz="1200" b="0">
                <a:solidFill>
                  <a:srgbClr val="1B2A41"/>
                </a:solidFill>
                <a:latin typeface="Segoe UI"/>
              </a:rPr>
              <a:t>(clear weather, dry roads, daylight) — simply because that's when most driving happens.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▪  </a:t>
            </a:r>
            <a:r>
              <a:rPr sz="1200" b="1">
                <a:solidFill>
                  <a:srgbClr val="1B2A41"/>
                </a:solidFill>
                <a:latin typeface="Segoe UI Semibold"/>
              </a:rPr>
              <a:t>Rain and wet/damp surfaces </a:t>
            </a:r>
            <a:r>
              <a:rPr sz="1200" b="0">
                <a:solidFill>
                  <a:srgbClr val="1B2A41"/>
                </a:solidFill>
                <a:latin typeface="Segoe UI"/>
              </a:rPr>
              <a:t>are the leading adverse conditions and show a higher share of serious outcomes — skidding, longer braking distances.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▪  </a:t>
            </a:r>
            <a:r>
              <a:rPr sz="1200" b="1">
                <a:solidFill>
                  <a:srgbClr val="1B2A41"/>
                </a:solidFill>
                <a:latin typeface="Segoe UI Semibold"/>
              </a:rPr>
              <a:t>Darkness with lights lit </a:t>
            </a:r>
            <a:r>
              <a:rPr sz="1200" b="0">
                <a:solidFill>
                  <a:srgbClr val="1B2A41"/>
                </a:solidFill>
                <a:latin typeface="Segoe UI"/>
              </a:rPr>
              <a:t>still accounts for ~3,300 accidents — poor lighting is a lever authorities directly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EDA · ROOT CAUSES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Why Do Accidents Happen?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Segoe UI"/>
              </a:rPr>
              <a:t>Top causes of accidents — driver behaviour dominates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EDA   |   </a:t>
            </a:r>
            <a:r>
              <a:rPr sz="900" b="1">
                <a:solidFill>
                  <a:srgbClr val="F5A623"/>
                </a:solidFill>
                <a:latin typeface="Segoe U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7863840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i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238517"/>
            <a:ext cx="7644382" cy="30027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4088" y="5577840"/>
            <a:ext cx="764438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Cause of accident, ranked by frequency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828800"/>
            <a:ext cx="2926080" cy="4114800"/>
          </a:xfrm>
          <a:prstGeom prst="roundRect">
            <a:avLst>
              <a:gd name="adj" fmla="val 5000"/>
            </a:avLst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01168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Segoe UI Semibold"/>
              </a:rPr>
              <a:t>TOP 5 CAUSES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42316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423160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No distancing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24231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9C6D9"/>
                </a:solidFill>
                <a:latin typeface="Segoe UI"/>
              </a:rPr>
              <a:t>~2,260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99008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990088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Lane change (right)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7080" y="2990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9C6D9"/>
                </a:solidFill>
                <a:latin typeface="Segoe UI"/>
              </a:rPr>
              <a:t>~1,810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557015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3557015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Lane change (left)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3557015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9C6D9"/>
                </a:solidFill>
                <a:latin typeface="Segoe UI"/>
              </a:rPr>
              <a:t>~1,470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2394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4123944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Careless driving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412394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9C6D9"/>
                </a:solidFill>
                <a:latin typeface="Segoe UI"/>
              </a:rPr>
              <a:t>~1,400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469087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4690872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No priority to vehicle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7080" y="46908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9C6D9"/>
                </a:solidFill>
                <a:latin typeface="Segoe UI"/>
              </a:rPr>
              <a:t>~1,210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534924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Segoe UI Semibold"/>
              </a:rPr>
              <a:t>Nearly all top causes are behavioural → preventable.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Segoe UI"/>
              </a:rPr>
              <a:t>Tailgating and unsafe lane changes alone account for thousands of accidents — awareness campaigns and enforcement can attack these directly.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09344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14016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18688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60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28032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32704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37376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42048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51392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56064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460736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265408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70080" y="5394960"/>
            <a:ext cx="121615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150876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>
                <a:solidFill>
                  <a:srgbClr val="243C63"/>
                </a:solidFill>
                <a:latin typeface="Segoe UI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0632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Modelling &amp;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8862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F5A623"/>
                </a:solidFill>
                <a:latin typeface="Segoe UI"/>
              </a:rPr>
              <a:t>Three classifiers, one winner — and an honest look at its errors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64592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— </a:t>
            </a:r>
            <a:r>
              <a:rPr sz="1300" b="0">
                <a:solidFill>
                  <a:srgbClr val="C9D4E4"/>
                </a:solidFill>
                <a:latin typeface="Segoe UI"/>
              </a:rPr>
              <a:t>Feature engineering &amp;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10312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— </a:t>
            </a:r>
            <a:r>
              <a:rPr sz="1300" b="0">
                <a:solidFill>
                  <a:srgbClr val="C9D4E4"/>
                </a:solidFill>
                <a:latin typeface="Segoe UI"/>
              </a:rPr>
              <a:t>Model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56032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— </a:t>
            </a:r>
            <a:r>
              <a:rPr sz="1300" b="0">
                <a:solidFill>
                  <a:srgbClr val="C9D4E4"/>
                </a:solidFill>
                <a:latin typeface="Segoe UI"/>
              </a:rPr>
              <a:t>Accuracy · Precision · Recall · 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01752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— </a:t>
            </a:r>
            <a:r>
              <a:rPr sz="1300" b="0">
                <a:solidFill>
                  <a:srgbClr val="C9D4E4"/>
                </a:solidFill>
                <a:latin typeface="Segoe UI"/>
              </a:rPr>
              <a:t>Confusion matrix &amp; feature importance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/>
            </a:r>
            <a:r>
              <a:rPr sz="900" b="1">
                <a:solidFill>
                  <a:srgbClr val="F5A623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MODELLING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Training &amp; Model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Segoe UI"/>
              </a:rPr>
              <a:t>9,852 training rows · 30 engineered features · evaluated on 2,464 held-out rows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Model   |   </a:t>
            </a:r>
            <a:r>
              <a:rPr sz="900" b="1">
                <a:solidFill>
                  <a:srgbClr val="F5A623"/>
                </a:solidFill>
                <a:latin typeface="Segoe U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80644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del comparison on test 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90" y="1984248"/>
            <a:ext cx="5565179" cy="31455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4088" y="5166359"/>
            <a:ext cx="558698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Test-set accuracy of the three candidate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874519"/>
            <a:ext cx="493776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1874519"/>
            <a:ext cx="82296" cy="1143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98424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E1F38"/>
                </a:solidFill>
                <a:latin typeface="Segoe UI Semibold"/>
              </a:rPr>
              <a:t>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350008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Strong linear baseline — nearly matches the winner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5560" y="2039112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0E1F38"/>
                </a:solidFill>
                <a:latin typeface="Segoe UI Semibold"/>
              </a:rPr>
              <a:t>84.54%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172968"/>
            <a:ext cx="493776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3172968"/>
            <a:ext cx="82296" cy="114300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3282696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E1F38"/>
                </a:solidFill>
                <a:latin typeface="Segoe UI Semibold"/>
              </a:rPr>
              <a:t>Decision 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648456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Overfits the training data; weakest generalisation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60" y="333756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0E1F38"/>
                </a:solidFill>
                <a:latin typeface="Segoe UI Semibold"/>
              </a:rPr>
              <a:t>75.37%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4471416"/>
            <a:ext cx="4937760" cy="1143000"/>
          </a:xfrm>
          <a:prstGeom prst="roundRect">
            <a:avLst>
              <a:gd name="adj" fmla="val 9000"/>
            </a:avLst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4471416"/>
            <a:ext cx="82296" cy="1143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58114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Random Forest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946904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9D4E4"/>
                </a:solidFill>
                <a:latin typeface="Segoe UI"/>
              </a:rPr>
              <a:t>Best test accuracy + robustness + feature importance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4636007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5A623"/>
                </a:solidFill>
                <a:latin typeface="Segoe UI Semibold"/>
              </a:rPr>
              <a:t>84.58%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5330952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5330952"/>
            <a:ext cx="1600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0E1F38"/>
                </a:solidFill>
                <a:latin typeface="Segoe UI Semibold"/>
              </a:rPr>
              <a:t>✓ SELECTED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035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Segoe UI"/>
              </a:rPr>
              <a:t>Random Forest was selected: it edges out Logistic Regression on accuracy while providing ensemble robustness and interpretable feature importances.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How Good Is the Model — Really?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Segoe UI"/>
              </a:rPr>
              <a:t>Random Forest on the 2,464-row test set (weighted metrics)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Model   |   </a:t>
            </a:r>
            <a:r>
              <a:rPr sz="900" b="1">
                <a:solidFill>
                  <a:srgbClr val="F5A623"/>
                </a:solidFill>
                <a:latin typeface="Segoe U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3291840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82296" cy="9509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975104"/>
            <a:ext cx="2880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84.58%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56032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5B6B82"/>
                </a:solidFill>
                <a:latin typeface="Segoe UI Semibold"/>
              </a:rPr>
              <a:t>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07791"/>
            <a:ext cx="3291840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907791"/>
            <a:ext cx="82296" cy="95097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054096"/>
            <a:ext cx="2880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0.7795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639311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5B6B82"/>
                </a:solidFill>
                <a:latin typeface="Segoe UI Semibold"/>
              </a:rPr>
              <a:t>PRECISION (WEIGHTED)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986783"/>
            <a:ext cx="3291840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986783"/>
            <a:ext cx="82296" cy="950976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133087"/>
            <a:ext cx="2880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0.8458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718303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5B6B82"/>
                </a:solidFill>
                <a:latin typeface="Segoe UI Semibold"/>
              </a:rPr>
              <a:t>RECALL (WEIGHTED)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065776"/>
            <a:ext cx="3291840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5065776"/>
            <a:ext cx="82296" cy="95097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212080"/>
            <a:ext cx="2880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0.7783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5797296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5B6B82"/>
                </a:solidFill>
                <a:latin typeface="Segoe UI Semibold"/>
              </a:rPr>
              <a:t>F1 SCORE (WEIGHTED)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1828800"/>
            <a:ext cx="4114800" cy="4297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onfusion Matrix - Random 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2121001"/>
            <a:ext cx="3895344" cy="342066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270248" y="5760720"/>
            <a:ext cx="3895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Confusion matrix (0=Fatal · 1=Serious · 2=Slight)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1828800"/>
            <a:ext cx="3108960" cy="4297680"/>
          </a:xfrm>
          <a:prstGeom prst="roundRect">
            <a:avLst>
              <a:gd name="adj" fmla="val 6000"/>
            </a:avLst>
          </a:prstGeom>
          <a:solidFill>
            <a:srgbClr val="FDF3DF"/>
          </a:solidFill>
          <a:ln w="9525">
            <a:solidFill>
              <a:srgbClr val="EFD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201168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HONEST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2423160"/>
            <a:ext cx="26974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C8810A"/>
                </a:solidFill>
                <a:latin typeface="Segoe UI"/>
              </a:rPr>
              <a:t>▪  </a:t>
            </a:r>
            <a:r>
              <a:rPr sz="1100" b="1">
                <a:solidFill>
                  <a:srgbClr val="1B2A41"/>
                </a:solidFill>
                <a:latin typeface="Segoe UI Semibold"/>
              </a:rPr>
              <a:t>Slight injuries: </a:t>
            </a:r>
            <a:r>
              <a:rPr sz="1100" b="0">
                <a:solidFill>
                  <a:srgbClr val="1B2A41"/>
                </a:solidFill>
                <a:latin typeface="Segoe UI"/>
              </a:rPr>
              <a:t>2,080 / 2,088 correctly caught — excellent.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C8810A"/>
                </a:solidFill>
                <a:latin typeface="Segoe UI"/>
              </a:rPr>
              <a:t>▪  </a:t>
            </a:r>
            <a:r>
              <a:rPr sz="1100" b="1">
                <a:solidFill>
                  <a:srgbClr val="1B2A41"/>
                </a:solidFill>
                <a:latin typeface="Segoe UI Semibold"/>
              </a:rPr>
              <a:t>Minority classes suffer: </a:t>
            </a:r>
            <a:r>
              <a:rPr sz="1100" b="0">
                <a:solidFill>
                  <a:srgbClr val="1B2A41"/>
                </a:solidFill>
                <a:latin typeface="Segoe UI"/>
              </a:rPr>
              <a:t>most Serious and Fatal cases are pulled toward the majority class.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C8810A"/>
                </a:solidFill>
                <a:latin typeface="Segoe UI"/>
              </a:rPr>
              <a:t>▪  </a:t>
            </a:r>
            <a:r>
              <a:rPr sz="1100" b="1">
                <a:solidFill>
                  <a:srgbClr val="1B2A41"/>
                </a:solidFill>
                <a:latin typeface="Segoe UI Semibold"/>
              </a:rPr>
              <a:t>Root cause: </a:t>
            </a:r>
            <a:r>
              <a:rPr sz="1100" b="0">
                <a:solidFill>
                  <a:srgbClr val="1B2A41"/>
                </a:solidFill>
                <a:latin typeface="Segoe UI"/>
              </a:rPr>
              <a:t>class imbalance (≈85% slight) — accuracy alone overstates performance.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00" b="1">
                <a:solidFill>
                  <a:srgbClr val="C8810A"/>
                </a:solidFill>
                <a:latin typeface="Segoe UI"/>
              </a:rPr>
              <a:t>▪  </a:t>
            </a:r>
            <a:r>
              <a:rPr sz="1100" b="1">
                <a:solidFill>
                  <a:srgbClr val="1B2A41"/>
                </a:solidFill>
                <a:latin typeface="Segoe UI Semibold"/>
              </a:rPr>
              <a:t>Next step: </a:t>
            </a:r>
            <a:r>
              <a:rPr sz="1100" b="0">
                <a:solidFill>
                  <a:srgbClr val="1B2A41"/>
                </a:solidFill>
                <a:latin typeface="Segoe UI"/>
              </a:rPr>
              <a:t>SMOTE / class weights to lift minority recall.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What Drives Accident Severity?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Segoe UI"/>
              </a:rPr>
              <a:t>Top 10 features by Random Forest importance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Model   |   </a:t>
            </a:r>
            <a:r>
              <a:rPr sz="900" b="1">
                <a:solidFill>
                  <a:srgbClr val="F5A623"/>
                </a:solidFill>
                <a:latin typeface="Segoe U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694944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op 10 important 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950837"/>
            <a:ext cx="6729983" cy="3623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4088" y="5623559"/>
            <a:ext cx="672998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Random Forest feature importances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828800"/>
            <a:ext cx="3794760" cy="9418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938528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1B2A41"/>
                </a:solidFill>
                <a:latin typeface="Segoe UI"/>
              </a:rPr>
              <a:t>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920240"/>
            <a:ext cx="30632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E1F38"/>
                </a:solidFill>
                <a:latin typeface="Segoe UI Semibold"/>
              </a:rPr>
              <a:t>Time of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231136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B82"/>
                </a:solidFill>
                <a:latin typeface="Segoe UI"/>
              </a:rPr>
              <a:t>By far the strongest signal (0.120) — severity risk shifts across the day.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898648"/>
            <a:ext cx="3794760" cy="9418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3008376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1B2A41"/>
                </a:solidFill>
                <a:latin typeface="Segoe UI"/>
              </a:rP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990088"/>
            <a:ext cx="30632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E1F38"/>
                </a:solidFill>
                <a:latin typeface="Segoe UI Semibold"/>
              </a:rPr>
              <a:t>Cause of accident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300984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B82"/>
                </a:solidFill>
                <a:latin typeface="Segoe UI"/>
              </a:rPr>
              <a:t>Behavioural causes (0.068) directly shape outcomes.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968496"/>
            <a:ext cx="3794760" cy="9418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4078224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1B2A41"/>
                </a:solidFill>
                <a:latin typeface="Segoe UI"/>
              </a:rPr>
              <a:t>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059935"/>
            <a:ext cx="30632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E1F38"/>
                </a:solidFill>
                <a:latin typeface="Segoe UI Semibold"/>
              </a:rPr>
              <a:t>Day of week &amp; vehicle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370832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B82"/>
                </a:solidFill>
                <a:latin typeface="Segoe UI"/>
              </a:rPr>
              <a:t>Traffic rhythm and vehicle class both matter (~0.058 each).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5038344"/>
            <a:ext cx="3794760" cy="9418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5148072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1B2A41"/>
                </a:solidFill>
                <a:latin typeface="Segoe UI"/>
              </a:rPr>
              <a:t>🧑‍✈️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5129783"/>
            <a:ext cx="30632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E1F38"/>
                </a:solidFill>
                <a:latin typeface="Segoe UI Semibold"/>
              </a:rPr>
              <a:t>Driver factors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544068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5B6B82"/>
                </a:solidFill>
                <a:latin typeface="Segoe UI"/>
              </a:rPr>
              <a:t>Experience and age band appear in the top 10 — confirming the EDA.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1722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Segoe UI"/>
              </a:rPr>
              <a:t>Environment sets the stage, but time and human behaviour dominate — exactly where policy interventions are cheapest.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09344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14016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18688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60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28032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32704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37376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42048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51392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56064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460736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265408" y="5394960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70080" y="5394960"/>
            <a:ext cx="121615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150876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>
                <a:solidFill>
                  <a:srgbClr val="243C63"/>
                </a:solidFill>
                <a:latin typeface="Segoe UI Semibol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0632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Hotspots &amp;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8862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F5A623"/>
                </a:solidFill>
                <a:latin typeface="Segoe UI"/>
              </a:rPr>
              <a:t>From patterns in the data to actions on the road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64592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— </a:t>
            </a:r>
            <a:r>
              <a:rPr sz="1300" b="0">
                <a:solidFill>
                  <a:srgbClr val="C9D4E4"/>
                </a:solidFill>
                <a:latin typeface="Segoe UI"/>
              </a:rPr>
              <a:t>Severity vs light conditions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10312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— </a:t>
            </a:r>
            <a:r>
              <a:rPr sz="1300" b="0">
                <a:solidFill>
                  <a:srgbClr val="C9D4E4"/>
                </a:solidFill>
                <a:latin typeface="Segoe UI"/>
              </a:rPr>
              <a:t>High-risk pattern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56032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— </a:t>
            </a:r>
            <a:r>
              <a:rPr sz="1300" b="0">
                <a:solidFill>
                  <a:srgbClr val="C9D4E4"/>
                </a:solidFill>
                <a:latin typeface="Segoe UI"/>
              </a:rPr>
              <a:t>Concrete safety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01752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— </a:t>
            </a:r>
            <a:r>
              <a:rPr sz="1300" b="0">
                <a:solidFill>
                  <a:srgbClr val="C9D4E4"/>
                </a:solidFill>
                <a:latin typeface="Segoe UI"/>
              </a:rPr>
              <a:t>Limitations &amp; future scope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/>
            </a:r>
            <a:r>
              <a:rPr sz="900" b="1">
                <a:solidFill>
                  <a:srgbClr val="F5A623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HOTSPOT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Where Severity Concentrates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Segoe UI"/>
              </a:rPr>
              <a:t>Cross-tabulating conditions against severity reveals high-risk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Insights   |   </a:t>
            </a:r>
            <a:r>
              <a:rPr sz="900" b="1">
                <a:solidFill>
                  <a:srgbClr val="F5A623"/>
                </a:solidFill>
                <a:latin typeface="Segoe U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6217920" cy="3931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ight Condition vs Accident Seve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97" y="1938528"/>
            <a:ext cx="5634245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4088" y="5394959"/>
            <a:ext cx="5998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Light condition vs accident severity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828800"/>
            <a:ext cx="45262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1828800"/>
            <a:ext cx="73152" cy="91440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911095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E1F38"/>
                </a:solidFill>
                <a:latin typeface="Segoe UI Semibold"/>
              </a:rPr>
              <a:t>Poor lighting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212848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Darkness — even with lights lit — carries a higher share of serious &amp; fatal outcomes.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862072"/>
            <a:ext cx="45262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6600" y="2862072"/>
            <a:ext cx="73152" cy="9144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2944368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E1F38"/>
                </a:solidFill>
                <a:latin typeface="Segoe UI Semibold"/>
              </a:rPr>
              <a:t>Adverse weather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246120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Rain shows a disproportionately serious accident profile despite fewer total crashes.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3895344"/>
            <a:ext cx="45262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86600" y="3895344"/>
            <a:ext cx="73152" cy="91440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3977639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E1F38"/>
                </a:solidFill>
                <a:latin typeface="Segoe UI Semibold"/>
              </a:rPr>
              <a:t>Wet / damp surfaces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279392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Different accident pattern vs dry roads: skidding &amp; reduced grip raise severity.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4928616"/>
            <a:ext cx="45262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86600" y="4928616"/>
            <a:ext cx="73152" cy="914400"/>
          </a:xfrm>
          <a:prstGeom prst="rect">
            <a:avLst/>
          </a:prstGeom>
          <a:solidFill>
            <a:srgbClr val="C88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5010912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E1F38"/>
                </a:solidFill>
                <a:latin typeface="Segoe UI Semibold"/>
              </a:rPr>
              <a:t>Risky driver groups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312664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Young drivers and behavioural causes (tailgating, lane-changes) recur across severe cases.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989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Segoe UI"/>
              </a:rPr>
              <a:t>A 'hotspot' here is a condition pattern, not a GPS location — the dataset has no coordinates, so the analysis targets when and how, not where on the map.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Safety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Segoe UI"/>
              </a:rPr>
              <a:t>Generated by the analysis and exported to safety_recommendations.csv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Insights   |   </a:t>
            </a:r>
            <a:r>
              <a:rPr sz="900" b="1">
                <a:solidFill>
                  <a:srgbClr val="F5A623"/>
                </a:solidFill>
                <a:latin typeface="Segoe UI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11018520" cy="502920"/>
          </a:xfrm>
          <a:prstGeom prst="roundRect">
            <a:avLst>
              <a:gd name="adj" fmla="val 0"/>
            </a:avLst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8424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5A623"/>
                </a:solidFill>
                <a:latin typeface="Segoe UI Semibol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98424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5A623"/>
                </a:solidFill>
                <a:latin typeface="Segoe UI Semibold"/>
              </a:rPr>
              <a:t>RISK FACTOR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8424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5A623"/>
                </a:solidFill>
                <a:latin typeface="Segoe UI Semibold"/>
              </a:rPr>
              <a:t>RECOMMENDED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984248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5A623"/>
                </a:solidFill>
                <a:latin typeface="Segoe UI Semibold"/>
              </a:rPr>
              <a:t>PRIMARY 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377439"/>
            <a:ext cx="11018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2374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1B2A41"/>
                </a:solidFill>
                <a:latin typeface="Segoe UI"/>
              </a:rPr>
              <a:t>🌧️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569463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E1F38"/>
                </a:solidFill>
                <a:latin typeface="Segoe UI Semibold"/>
              </a:rPr>
              <a:t>Rainy weather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69463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B2A41"/>
                </a:solidFill>
                <a:latin typeface="Segoe UI"/>
              </a:rPr>
              <a:t>Reduce speed limits during 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569463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Segoe UI"/>
              </a:rPr>
              <a:t>Traffic authorities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090672"/>
            <a:ext cx="11018520" cy="713232"/>
          </a:xfrm>
          <a:prstGeom prst="rect">
            <a:avLst/>
          </a:prstGeom>
          <a:solidFill>
            <a:srgbClr val="F0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3697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1B2A41"/>
                </a:solidFill>
                <a:latin typeface="Segoe UI"/>
              </a:rPr>
              <a:t>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2826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E1F38"/>
                </a:solidFill>
                <a:latin typeface="Segoe UI Semibold"/>
              </a:rPr>
              <a:t>Poor lighting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28269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B2A41"/>
                </a:solidFill>
                <a:latin typeface="Segoe UI"/>
              </a:rPr>
              <a:t>Install additional street lights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28269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Segoe UI"/>
              </a:rPr>
              <a:t>Road safety dept.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803904"/>
            <a:ext cx="11018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95020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1B2A41"/>
                </a:solidFill>
                <a:latin typeface="Segoe UI"/>
              </a:rPr>
              <a:t>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9959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E1F38"/>
                </a:solidFill>
                <a:latin typeface="Segoe UI Semibold"/>
              </a:rPr>
              <a:t>Driver inattention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9959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B2A41"/>
                </a:solidFill>
                <a:latin typeface="Segoe UI"/>
              </a:rPr>
              <a:t>Increase awareness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99592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Segoe UI"/>
              </a:rPr>
              <a:t>Government / media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517136"/>
            <a:ext cx="11018520" cy="713232"/>
          </a:xfrm>
          <a:prstGeom prst="rect">
            <a:avLst/>
          </a:prstGeom>
          <a:solidFill>
            <a:srgbClr val="F0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663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1B2A41"/>
                </a:solidFill>
                <a:latin typeface="Segoe UI"/>
              </a:rPr>
              <a:t>🛣️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70915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E1F38"/>
                </a:solidFill>
                <a:latin typeface="Segoe UI Semibold"/>
              </a:rPr>
              <a:t>Wet roads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709159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B2A41"/>
                </a:solidFill>
                <a:latin typeface="Segoe UI"/>
              </a:rPr>
              <a:t>Improve road maintenance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709159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Segoe UI"/>
              </a:rPr>
              <a:t>Public works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5230368"/>
            <a:ext cx="11018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376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1B2A41"/>
                </a:solidFill>
                <a:latin typeface="Segoe UI"/>
              </a:rPr>
              <a:t>🧑‍🎓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422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E1F38"/>
                </a:solidFill>
                <a:latin typeface="Segoe UI Semibold"/>
              </a:rPr>
              <a:t>Young drivers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42239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B2A41"/>
                </a:solidFill>
                <a:latin typeface="Segoe UI"/>
              </a:rPr>
              <a:t>Provide defensive driving training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542239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Segoe UI"/>
              </a:rPr>
              <a:t>Licensing bodies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5989320"/>
            <a:ext cx="11018520" cy="18288"/>
          </a:xfrm>
          <a:prstGeom prst="rect">
            <a:avLst/>
          </a:prstGeom>
          <a:solidFill>
            <a:srgbClr val="DD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60807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B6B82"/>
                </a:solidFill>
                <a:latin typeface="Segoe UI"/>
              </a:rPr>
              <a:t>Each recommendation maps a data-confirmed risk factor to a low-cost, high-leverage intervention that authorities can act on immediately.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Key Insights &amp; Honest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Insights   |   </a:t>
            </a:r>
            <a:r>
              <a:rPr sz="900" b="1">
                <a:solidFill>
                  <a:srgbClr val="F5A623"/>
                </a:solidFill>
                <a:latin typeface="Segoe UI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54406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83080"/>
            <a:ext cx="5440680" cy="502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✅  KEY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4937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▪  </a:t>
            </a:r>
            <a:r>
              <a:rPr sz="1200" b="1">
                <a:solidFill>
                  <a:srgbClr val="1B2A41"/>
                </a:solidFill>
                <a:latin typeface="Segoe UI Semibold"/>
              </a:rPr>
              <a:t>85% of accidents cause slight injuries </a:t>
            </a:r>
            <a:r>
              <a:rPr sz="1200" b="0">
                <a:solidFill>
                  <a:srgbClr val="1B2A41"/>
                </a:solidFill>
                <a:latin typeface="Segoe UI"/>
              </a:rPr>
              <a:t>— but the rare severe ones are what matter most.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▪  </a:t>
            </a:r>
            <a:r>
              <a:rPr sz="1200" b="1">
                <a:solidFill>
                  <a:srgbClr val="1B2A41"/>
                </a:solidFill>
                <a:latin typeface="Segoe UI Semibold"/>
              </a:rPr>
              <a:t>Human behaviour is the biggest lever: </a:t>
            </a:r>
            <a:r>
              <a:rPr sz="1200" b="0">
                <a:solidFill>
                  <a:srgbClr val="1B2A41"/>
                </a:solidFill>
                <a:latin typeface="Segoe UI"/>
              </a:rPr>
              <a:t>tailgating and lane changes top the cause list.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▪  </a:t>
            </a:r>
            <a:r>
              <a:rPr sz="1200" b="1">
                <a:solidFill>
                  <a:srgbClr val="1B2A41"/>
                </a:solidFill>
                <a:latin typeface="Segoe UI Semibold"/>
              </a:rPr>
              <a:t>Time of day is the #1 predictive feature </a:t>
            </a:r>
            <a:r>
              <a:rPr sz="1200" b="0">
                <a:solidFill>
                  <a:srgbClr val="1B2A41"/>
                </a:solidFill>
                <a:latin typeface="Segoe UI"/>
              </a:rPr>
              <a:t>for severity.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▪  </a:t>
            </a:r>
            <a:r>
              <a:rPr sz="1200" b="1">
                <a:solidFill>
                  <a:srgbClr val="1B2A41"/>
                </a:solidFill>
                <a:latin typeface="Segoe UI Semibold"/>
              </a:rPr>
              <a:t>Random Forest wins </a:t>
            </a:r>
            <a:r>
              <a:rPr sz="1200" b="0">
                <a:solidFill>
                  <a:srgbClr val="1B2A41"/>
                </a:solidFill>
                <a:latin typeface="Segoe UI"/>
              </a:rPr>
              <a:t>at 84.58% test accuracy over LR (84.54%) and DT (75.37%).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▪  </a:t>
            </a:r>
            <a:r>
              <a:rPr sz="1200" b="1">
                <a:solidFill>
                  <a:srgbClr val="1B2A41"/>
                </a:solidFill>
                <a:latin typeface="Segoe UI Semibold"/>
              </a:rPr>
              <a:t>Mid-experience drivers (5–10 yrs) </a:t>
            </a:r>
            <a:r>
              <a:rPr sz="1200" b="0">
                <a:solidFill>
                  <a:srgbClr val="1B2A41"/>
                </a:solidFill>
                <a:latin typeface="Segoe UI"/>
              </a:rPr>
              <a:t>crash the most — experience ≠ safety.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34924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349240" cy="50292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⚠️ 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514600"/>
            <a:ext cx="48463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D64545"/>
                </a:solidFill>
                <a:latin typeface="Segoe UI"/>
              </a:rPr>
              <a:t>▪  </a:t>
            </a:r>
            <a:r>
              <a:rPr sz="1200" b="1">
                <a:solidFill>
                  <a:srgbClr val="1B2A41"/>
                </a:solidFill>
                <a:latin typeface="Segoe UI Semibold"/>
              </a:rPr>
              <a:t>Historical data only </a:t>
            </a:r>
            <a:r>
              <a:rPr sz="1200" b="0">
                <a:solidFill>
                  <a:srgbClr val="1B2A41"/>
                </a:solidFill>
                <a:latin typeface="Segoe UI"/>
              </a:rPr>
              <a:t>— no real-time traffic or weather feeds.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D64545"/>
                </a:solidFill>
                <a:latin typeface="Segoe UI"/>
              </a:rPr>
              <a:t>▪  </a:t>
            </a:r>
            <a:r>
              <a:rPr sz="1200" b="1">
                <a:solidFill>
                  <a:srgbClr val="1B2A41"/>
                </a:solidFill>
                <a:latin typeface="Segoe UI Semibold"/>
              </a:rPr>
              <a:t>No GPS coordinates, </a:t>
            </a:r>
            <a:r>
              <a:rPr sz="1200" b="0">
                <a:solidFill>
                  <a:srgbClr val="1B2A41"/>
                </a:solidFill>
                <a:latin typeface="Segoe UI"/>
              </a:rPr>
              <a:t>so hotspots are condition patterns, not map locations.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D64545"/>
                </a:solidFill>
                <a:latin typeface="Segoe UI"/>
              </a:rPr>
              <a:t>▪  </a:t>
            </a:r>
            <a:r>
              <a:rPr sz="1200" b="1">
                <a:solidFill>
                  <a:srgbClr val="1B2A41"/>
                </a:solidFill>
                <a:latin typeface="Segoe UI Semibold"/>
              </a:rPr>
              <a:t>Class imbalance </a:t>
            </a:r>
            <a:r>
              <a:rPr sz="1200" b="0">
                <a:solidFill>
                  <a:srgbClr val="1B2A41"/>
                </a:solidFill>
                <a:latin typeface="Segoe UI"/>
              </a:rPr>
              <a:t>depresses minority-class (Fatal/Serious) precision and F1.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D64545"/>
                </a:solidFill>
                <a:latin typeface="Segoe UI"/>
              </a:rPr>
              <a:t>▪  </a:t>
            </a:r>
            <a:r>
              <a:rPr sz="1200" b="1">
                <a:solidFill>
                  <a:srgbClr val="1B2A41"/>
                </a:solidFill>
                <a:latin typeface="Segoe UI Semibold"/>
              </a:rPr>
              <a:t>Data quality dependent: </a:t>
            </a:r>
            <a:r>
              <a:rPr sz="1200" b="0">
                <a:solidFill>
                  <a:srgbClr val="1B2A41"/>
                </a:solidFill>
                <a:latin typeface="Segoe UI"/>
              </a:rPr>
              <a:t>'Unknown' categories add noise.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D64545"/>
                </a:solidFill>
                <a:latin typeface="Segoe UI"/>
              </a:rPr>
              <a:t>▪  </a:t>
            </a:r>
            <a:r>
              <a:rPr sz="1200" b="1">
                <a:solidFill>
                  <a:srgbClr val="1B2A41"/>
                </a:solidFill>
                <a:latin typeface="Segoe UI Semibold"/>
              </a:rPr>
              <a:t>Decision support, not replacement </a:t>
            </a:r>
            <a:r>
              <a:rPr sz="1200" b="0">
                <a:solidFill>
                  <a:srgbClr val="1B2A41"/>
                </a:solidFill>
                <a:latin typeface="Segoe UI"/>
              </a:rPr>
              <a:t>for expert judgement.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8810A"/>
                </a:solidFill>
                <a:latin typeface="Segoe UI Semibold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E1F38"/>
                </a:solidFill>
                <a:latin typeface="Segoe UI Semibold"/>
              </a:rP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Segoe UI"/>
              </a:rPr>
              <a:t>Where this project goes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Closing   |   </a:t>
            </a:r>
            <a:r>
              <a:rPr sz="900" b="1">
                <a:solidFill>
                  <a:srgbClr val="F5A623"/>
                </a:solidFill>
                <a:latin typeface="Segoe U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361188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020824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0">
                <a:solidFill>
                  <a:srgbClr val="1B2A41"/>
                </a:solidFill>
                <a:latin typeface="Segoe UI"/>
              </a:rPr>
              <a:t>🖥️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79" y="210312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2103120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C8810A"/>
                </a:solidFill>
                <a:latin typeface="Segoe UI Semibold"/>
              </a:rPr>
              <a:t>NEXT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258775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E1F38"/>
                </a:solidFill>
                <a:latin typeface="Segoe UI Semibold"/>
              </a:rPr>
              <a:t>Streamlit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953511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Enter accident details → predict severity → view recommendations, live.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6552" y="1874519"/>
            <a:ext cx="361188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020824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0">
                <a:solidFill>
                  <a:srgbClr val="1B2A41"/>
                </a:solidFill>
                <a:latin typeface="Segoe UI"/>
              </a:rPr>
              <a:t>⚖️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9672" y="210312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2103120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C8810A"/>
                </a:solidFill>
                <a:latin typeface="Segoe UI Semibold"/>
              </a:rPr>
              <a:t>MODELLING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258775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E1F38"/>
                </a:solidFill>
                <a:latin typeface="Segoe UI Semibold"/>
              </a:rPr>
              <a:t>Handle imbalance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2953511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SMOTE / class weights + XGBoost &amp; LightGBM to lift Fatal-class recall.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38744" y="1874519"/>
            <a:ext cx="361188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2020824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0">
                <a:solidFill>
                  <a:srgbClr val="1B2A41"/>
                </a:solidFill>
                <a:latin typeface="Segoe UI"/>
              </a:rPr>
              <a:t>🗺️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41863" y="210312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41863" y="2103120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C8810A"/>
                </a:solidFill>
                <a:latin typeface="Segoe UI Semibold"/>
              </a:rPr>
              <a:t>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58775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E1F38"/>
                </a:solidFill>
                <a:latin typeface="Segoe UI Semibold"/>
              </a:rPr>
              <a:t>GPS hotspot mapping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953511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Geo-coded data to visualise true map-based accident hotspots.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023360"/>
            <a:ext cx="361188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4169664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0">
                <a:solidFill>
                  <a:srgbClr val="1B2A41"/>
                </a:solidFill>
                <a:latin typeface="Segoe UI"/>
              </a:rPr>
              <a:t>🌦️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79" y="425196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79" y="4251960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C8810A"/>
                </a:solidFill>
                <a:latin typeface="Segoe UI Semibold"/>
              </a:rPr>
              <a:t>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473659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E1F38"/>
                </a:solidFill>
                <a:latin typeface="Segoe UI Semibold"/>
              </a:rPr>
              <a:t>Live API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" y="5102352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Real-time weather and traffic feeds for on-the-fly risk scoring.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16552" y="4023360"/>
            <a:ext cx="361188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4169664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0">
                <a:solidFill>
                  <a:srgbClr val="1B2A41"/>
                </a:solidFill>
                <a:latin typeface="Segoe UI"/>
              </a:rPr>
              <a:t>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9672" y="425196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4251960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C8810A"/>
                </a:solidFill>
                <a:latin typeface="Segoe UI Semibold"/>
              </a:rPr>
              <a:t>MODELLING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6008" y="473659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E1F38"/>
                </a:solidFill>
                <a:latin typeface="Segoe UI Semibold"/>
              </a:rPr>
              <a:t>Deep learning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6008" y="5102352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Neural approaches once richer data is available.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38744" y="4023360"/>
            <a:ext cx="361188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9912" y="4169664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0">
                <a:solidFill>
                  <a:srgbClr val="1B2A41"/>
                </a:solidFill>
                <a:latin typeface="Segoe UI"/>
              </a:rPr>
              <a:t>☁️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41863" y="425196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41863" y="4251960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C8810A"/>
                </a:solidFill>
                <a:latin typeface="Segoe UI Semibold"/>
              </a:rPr>
              <a:t>DEPLOYMENT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473659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E1F38"/>
                </a:solidFill>
                <a:latin typeface="Segoe UI Semibold"/>
              </a:rPr>
              <a:t>Cloud + mobile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5102352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B6B82"/>
                </a:solidFill>
                <a:latin typeface="Segoe UI"/>
              </a:rPr>
              <a:t>Deployed service and mobile app for field use by authorities.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42245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9344" y="42245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14016" y="42245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18688" y="42245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23360" y="42245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28032" y="42245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32704" y="42245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37376" y="42245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42048" y="42245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42245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42245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56064" y="42245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60736" y="42245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265408" y="4224528"/>
            <a:ext cx="502920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70080" y="4224528"/>
            <a:ext cx="121615" cy="502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137160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251460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C9D4E4"/>
                </a:solidFill>
                <a:latin typeface="Segoe UI"/>
              </a:rPr>
              <a:t>Every severe accident predicted is a chance to prevent one. This project shows how open data and simple, well-evaluated machine learning can guide real road-safety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6344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5A623"/>
                </a:solidFill>
                <a:latin typeface="Segoe UI Semibold"/>
              </a:rPr>
              <a:t>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029200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Segoe UI"/>
              </a:rPr>
              <a:t>Komal Kumari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76672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Segoe UI"/>
              </a:rPr>
              <a:t>Pallavi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24144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Segoe UI"/>
              </a:rPr>
              <a:t>Shruti Saini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66344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5A623"/>
                </a:solidFill>
                <a:latin typeface="Segoe UI Semibold"/>
              </a:rPr>
              <a:t>PROGRAM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029200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Segoe UI"/>
              </a:rPr>
              <a:t>IIT Mandi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376672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Segoe UI"/>
              </a:rPr>
              <a:t>Himshikhar Project Program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66344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5A623"/>
                </a:solidFill>
                <a:latin typeface="Segoe UI Semibold"/>
              </a:rPr>
              <a:t>RESOURCES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5029200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Segoe UI"/>
              </a:rPr>
              <a:t>Kaggle RTA Dataset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376672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Segoe UI"/>
              </a:rPr>
              <a:t>github.com/KomalKumari27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5724144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Segoe UI"/>
              </a:rPr>
              <a:t>scikit-learn · pandas · seaborn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5029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597396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>Road Accident Severity &amp; Safety Hotspot Analyzer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5615" y="6597396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B9C6D9"/>
                </a:solidFill>
                <a:latin typeface="Segoe UI"/>
              </a:rPr>
              <a:t/>
            </a:r>
            <a:r>
              <a:rPr sz="900" b="1">
                <a:solidFill>
                  <a:srgbClr val="F5A623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